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GlucoTwin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CDE2FB"/>
                </a:solidFill>
                <a:latin typeface="Segoe UI"/>
              </a:defRPr>
            </a:pPr>
            <a:r>
              <a:t>A hybrid digital twin that warns of glucose spikes and lows in Type 2 Diabetes before they happen, by fusing EHR, CGM and wearable data, validated on real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&lt;Team Name&gt;  ·  &lt;College / Incubator&gt;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Digital Twin Challenge 2026 · Happiest Health · Reimagining &amp; Reforming Healthcare in India Summit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Diabetes in India is managed by looking backwards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  <a:latin typeface="Segoe UI"/>
              </a:defRPr>
            </a:pPr>
            <a:r>
              <a:t>• India has ~101 million adults with diabetes and ~136 million with prediabetes (ICMR-INDIAB, 2023).</a:t>
            </a:r>
          </a:p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  <a:latin typeface="Segoe UI"/>
              </a:defRPr>
            </a:pPr>
            <a:r>
              <a:t>• High-carbohydrate meals (rice, roti, dosa, biryani) drive sharp post-meal glucose excursions, linked to vascular damage even when HbA1c looks acceptable.</a:t>
            </a:r>
          </a:p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  <a:latin typeface="Segoe UI"/>
              </a:defRPr>
            </a:pPr>
            <a:r>
              <a:t>• HbA1c is measured every ~3 months: it averages away the daily spikes.</a:t>
            </a:r>
          </a:p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  <a:latin typeface="Segoe UI"/>
              </a:defRPr>
            </a:pPr>
            <a:r>
              <a:t>• CGMs show what already happened, not what is about to happen.</a:t>
            </a:r>
          </a:p>
          <a:p>
            <a:pPr>
              <a:spcAft>
                <a:spcPts val="600"/>
              </a:spcAft>
              <a:defRPr sz="1600" b="0">
                <a:solidFill>
                  <a:srgbClr val="52514E"/>
                </a:solidFill>
                <a:latin typeface="Segoe UI"/>
              </a:defRPr>
            </a:pPr>
            <a:r>
              <a:t>• Doctors see a patient for minutes every few months, with no way to test 'what if this patient walked after dinner?'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737360"/>
            <a:ext cx="4846320" cy="329184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0B0B"/>
                </a:solidFill>
                <a:latin typeface="Segoe UI"/>
              </a:defRPr>
            </a:pPr>
            <a:r>
              <a:t>Our question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  <a:latin typeface="Segoe UI"/>
              </a:defRPr>
            </a:pPr>
            <a:r>
              <a:t>Can a personalised virtual replica of a patient, continuously updated from wearables and anchored in their health record, warn of a glucose spike early enough to act, and show which action would help?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A three-layer hybrid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80" y="1371600"/>
            <a:ext cx="869695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Sandbox-compliant data: a causally consistent synthetic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120 synthetic Indian T2D patients × 28 days at 5-minute resolution (≈1M rows).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Static EHR: demographics, labs, comorbidities, 6 drug classes, TCF7L2/KCNQ1 risk alleles, polygenic score.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Dynamic streams: CGM, steps, heart rate, HRV, sleep stages, partial meal logs.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Generated causally: genetics + meds → physiology → glucose → sensors and labs, so HbA1c agrees with CGM.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Hidden drivers the model must infer: unlogged meals (≈1 in 3), stress (HR↑ HRV↓), sleep debt.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Realistic noise: CGM lag, ~7% MARD, dropouts, sensor change, HRV gaps.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Real-data path built and tested: Synthea EHR importer, Apple Health importer, FHIR R4 export.</a:t>
            </a:r>
          </a:p>
        </p:txBody>
      </p:sp>
      <p:pic>
        <p:nvPicPr>
          <p:cNvPr id="7" name="Picture 6" descr="cohort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6126480" cy="2280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MECHANISTIC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Layer ①: a personalised physiological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2514E"/>
                </a:solidFill>
                <a:latin typeface="Segoe UI"/>
              </a:defRPr>
            </a:pPr>
            <a:r>
              <a:t>dG/dt = −(SG + X·m)·G + SG·Gb + Ra(meals) + dawn − exercise − SGLT2 excretion   ·   dX/dt = −p2·X + p2·SI·(I + I_exo)   ·   dI/dt = −n·I + β·(G − Gb)⁺ + s0</a:t>
            </a:r>
          </a:p>
          <a:p>
            <a:pPr>
              <a:spcAft>
                <a:spcPts val="600"/>
              </a:spcAft>
              <a:defRPr sz="1300" b="0">
                <a:solidFill>
                  <a:srgbClr val="52514E"/>
                </a:solidFill>
                <a:latin typeface="Segoe UI"/>
              </a:defRPr>
            </a:pPr>
            <a:r>
              <a:t>EHR sets the priors (weight, FPG, BMI, duration, medications). One onboarding week of CGM + meals + steps personalises insulin sensitivity, β-cell response, basal glucose and dawn effect (MAP fit). CGM is assimilated every 5 minutes.</a:t>
            </a:r>
          </a:p>
        </p:txBody>
      </p:sp>
      <p:pic>
        <p:nvPicPr>
          <p:cNvPr id="7" name="Picture 6" descr="twin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12" y="2971800"/>
            <a:ext cx="10389695" cy="3291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Results on 24 patients the model never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2A78D6"/>
                </a:solidFill>
                <a:latin typeface="Segoe UI"/>
              </a:defRPr>
            </a:pPr>
            <a:r>
              <a:t>0.952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2514E"/>
                </a:solidFill>
                <a:latin typeface="Segoe UI"/>
              </a:defRPr>
            </a:pPr>
            <a:r>
              <a:t>AUROC for predicting a spike</a:t>
            </a:r>
            <a:br/>
            <a:r>
              <a:t>within the next 2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2A78D6"/>
                </a:solidFill>
                <a:latin typeface="Segoe UI"/>
              </a:defRPr>
            </a:pPr>
            <a:r>
              <a:t>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2514E"/>
                </a:solidFill>
                <a:latin typeface="Segoe UI"/>
              </a:defRPr>
            </a:pPr>
            <a:r>
              <a:t>of spikes warned about</a:t>
            </a:r>
            <a:br/>
            <a:r>
              <a:t>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EB6834"/>
                </a:solidFill>
                <a:latin typeface="Segoe UI"/>
              </a:defRPr>
            </a:pPr>
            <a:r>
              <a:t>75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2514E"/>
                </a:solidFill>
                <a:latin typeface="Segoe UI"/>
              </a:defRPr>
            </a:pPr>
            <a:r>
              <a:t>median warning time</a:t>
            </a:r>
            <a:br/>
            <a:r>
              <a:t>before the spike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BAF7A"/>
                </a:solidFill>
                <a:latin typeface="Segoe UI"/>
              </a:defRPr>
            </a:pPr>
            <a:r>
              <a:t>0.77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2514E"/>
                </a:solidFill>
                <a:latin typeface="Segoe UI"/>
              </a:defRPr>
            </a:pPr>
            <a:r>
              <a:t>false alerts per</a:t>
            </a:r>
            <a:br/>
            <a:r>
              <a:t>patient-day</a:t>
            </a:r>
          </a:p>
        </p:txBody>
      </p:sp>
      <p:pic>
        <p:nvPicPr>
          <p:cNvPr id="14" name="Picture 13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85" y="3291840"/>
            <a:ext cx="10135548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Why fuse? Each data stream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CGM alone: AUROC 0.933, 0.87 false alerts/day. Adding meals, activity, sleep, HR/HRV and personal routine: 0.954 and 0.86/day (AUROC gain +0.020, 95% CI +0.013 to +0.026).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Once wearable history exists, static EHR and twin features add no measurable discrimination (differences within ±0.002). The twin's role is simulation and explanation, not raw accuracy.</a:t>
            </a:r>
          </a:p>
        </p:txBody>
      </p:sp>
      <p:pic>
        <p:nvPicPr>
          <p:cNvPr id="7" name="Picture 6" descr="by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11064240" cy="35129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REAL-WORLD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Validated on 96 real people with type 2 diabetes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2514E"/>
                </a:solidFill>
                <a:latin typeface="Segoe UI"/>
              </a:defRPr>
            </a:pPr>
            <a:r>
              <a:t>ShanghaiT2DM (Sci Data 2023, CC BY 4.0): CGM + clinical record + meals + insulin doses. 5-fold cross-validation grouped by person.</a:t>
            </a:r>
          </a:p>
          <a:p>
            <a:pPr>
              <a:spcAft>
                <a:spcPts val="600"/>
              </a:spcAft>
              <a:defRPr sz="1300" b="0">
                <a:solidFill>
                  <a:srgbClr val="52514E"/>
                </a:solidFill>
                <a:latin typeface="Segoe UI"/>
              </a:defRPr>
            </a:pPr>
            <a:r>
              <a:t>Fusion beats CGM alone (+0.020 AUROC, 95% CI +0.012 to +0.031). Trained only on synthetic data: 0.842. Honest negatives: static EHR slightly hurt; the physics-only twin forecast is worse than 'no change' on these patients.</a:t>
            </a:r>
          </a:p>
        </p:txBody>
      </p:sp>
      <p:pic>
        <p:nvPicPr>
          <p:cNvPr id="7" name="Picture 6" descr="real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11064240" cy="3422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HYPOGLYCAEMIA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Both directions of danger: predicting lows on real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2514E"/>
                </a:solidFill>
                <a:latin typeface="Segoe UI"/>
              </a:defRPr>
            </a:pPr>
            <a:r>
              <a:t>Lows (&lt;70 mg/dL) are the dangerous side of treatment, especially with insulin or sulfonylureas. Trained and validated on 96 real people (343 low episodes), with person-grouped cross-validation.</a:t>
            </a:r>
          </a:p>
          <a:p>
            <a:pPr>
              <a:spcAft>
                <a:spcPts val="600"/>
              </a:spcAft>
              <a:defRPr sz="1300" b="0">
                <a:solidFill>
                  <a:srgbClr val="52514E"/>
                </a:solidFill>
                <a:latin typeface="Segoe UI"/>
              </a:defRPr>
            </a:pPr>
            <a:r>
              <a:t>GlucoTwin AUROC 0.901 vs 0.842 for the 'urgent low soon' rule that CGMs use. Mixed but useful: GlucoTwin catches more lows when alarms must be rare (alarm fatigue), the simple rule wins when alarms can be frequent, so we use both: the rule as a safety net, GlucoTwin for earlier, quieter warnings.</a:t>
            </a:r>
          </a:p>
        </p:txBody>
      </p:sp>
      <p:pic>
        <p:nvPicPr>
          <p:cNvPr id="7" name="Picture 6" descr="hypo_real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11064240" cy="3374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LEAD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Early, actionable warnings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pic>
        <p:nvPicPr>
          <p:cNvPr id="6" name="Picture 5" descr="example_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949440" cy="3106104"/>
          </a:xfrm>
          <a:prstGeom prst="rect">
            <a:avLst/>
          </a:prstGeom>
        </p:spPr>
      </p:pic>
      <p:pic>
        <p:nvPicPr>
          <p:cNvPr id="7" name="Picture 6" descr="lead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37360"/>
            <a:ext cx="4206240" cy="24851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Trustworthy numbers: calibrated risk and accurate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Hybrid forecast error at +30 / +60 / +120 min: 13 / 21 / 26 mg/dL, roughly half the error of the physiology-only twin or a 'no change' guess.</a:t>
            </a:r>
          </a:p>
        </p:txBody>
      </p:sp>
      <p:pic>
        <p:nvPicPr>
          <p:cNvPr id="7" name="Picture 6" descr="calibration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10515600" cy="39136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WHY DID IT ALERT?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Explainable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pic>
        <p:nvPicPr>
          <p:cNvPr id="6" name="Picture 5" descr="grou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63040"/>
            <a:ext cx="5669280" cy="326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Every alert comes with its top drivers, for example: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▲ Personal routine: spiked above 180 around this time on 3 of the last 3 days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▲ Meals: 75 g carbs logged 20 min ago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▲ Digital twin: glucose 28 mg/dL above twin expectation, possible unlogged meal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▲ Sleep: slept 4.9 h last night (−1.8 h vs usual)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…plus a twin-tested suggestion, e.g. 'a 15-minute brisk walk now lowers the predicted peak by ~20 mg/dL'.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CLINICIAN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How a doctor uses the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pic>
        <p:nvPicPr>
          <p:cNvPr id="6" name="Picture 5" descr="dashboard_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486400" cy="3429000"/>
          </a:xfrm>
          <a:prstGeom prst="rect">
            <a:avLst/>
          </a:prstGeom>
        </p:spPr>
      </p:pic>
      <p:pic>
        <p:nvPicPr>
          <p:cNvPr id="7" name="Picture 6" descr="dashboard_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653" y="1417320"/>
            <a:ext cx="4334933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57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Ward overview (risk-sorted)  →  Virtual patient (CGM, forecast, risk, activity, HR/HRV, sleep, EHR, AGP, twin phenotype)  →  What-if simulator (Indian meal presets, carb quality, post-meal walk, sleep)  →  Model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TWIN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The twin at a glance: the patient's body,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pic>
        <p:nvPicPr>
          <p:cNvPr id="6" name="Picture 5" descr="dashboard_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426" y="1280160"/>
            <a:ext cx="74506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PATIENT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What the patient sees: one number, one reason, one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pic>
        <p:nvPicPr>
          <p:cNvPr id="6" name="Picture 5" descr="dashboard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606" y="1280160"/>
            <a:ext cx="2797746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5544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The clinician gets the full console; the patient gets a phone screen: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glucose now + trend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the prediction in plain words (English or Hindi)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the top reason, e.g. 'You had a meal recently'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one action the twin has tested: a 15-minute walk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• lows take priority over highs</a:t>
            </a: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2514E"/>
                </a:solidFill>
                <a:latin typeface="Segoe UI"/>
              </a:defRPr>
            </a:pPr>
            <a:r>
              <a:t>The 'I'll do it / Remind me' taps would feed adherence back to the care team.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What-if: personalised treatment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pic>
        <p:nvPicPr>
          <p:cNvPr id="6" name="Picture 5" descr="dashboard_wh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72" y="1463040"/>
            <a:ext cx="667909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The calibrated twin is run forward from the patient's current state: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Which meal? (rice + sambar vs ragi mudde)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Walk after dinner? How long, how soon?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Effect of a short night's sleep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For counselling and shared decision-making, not dosing.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Built like a product, not a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Real-time engine + FastAPI: POST observations → GET assessment / what-if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Replay script streams a patient like a device gateway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Identical feature code online and offline (tested to match)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Leakage test: changing the future never changes today's features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Patient-level train/val/test split; thresholds chosen on validation patients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Alerts evaluated as real notifications (re-sent hourly while risk stays high)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One command rebuilds everything: python scripts/build_all.py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New-patient lifecycle over the API: register → stream → calibrate → FHIR RiskAssessment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docker compose up runs dashboard +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52514E"/>
                </a:solidFill>
                <a:latin typeface="Segoe UI"/>
              </a:defRPr>
            </a:pPr>
            <a:r>
              <a:t>Stack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Python · NumPy · pandas · SciPy · Numba (ODE kernels) · scikit-learn (HistGradientBoosting, isotonic calibration) · FastAPI · Streamlit · Plotly · pytest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License: MIT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A78D6"/>
                </a:solidFill>
                <a:latin typeface="Segoe UI"/>
              </a:defRPr>
            </a:pPr>
            <a:r>
              <a:t>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  <a:latin typeface="Segoe UI"/>
              </a:defRPr>
            </a:pPr>
            <a: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898781"/>
                </a:solidFill>
                <a:latin typeface="Segoe UI"/>
              </a:defRPr>
            </a:pPr>
            <a:r>
              <a:t>GlucoTwin · &lt;Team Name&gt; ·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52514E"/>
                </a:solidFill>
                <a:latin typeface="Segoe UI"/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Main results are synthetic; the real-data check (96 Chinese T2D patients, CGM but no other wearables) confirms the fusion gain but not the twin's forecasting.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What-if simulations are not validated against real interventions.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The low-glucose model is trained only on the real Shanghai cohort (lows are too rare in the simulation).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The dawn-effect parameter is not identifiable from one week.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Twin features add no measurable accuracy over the fused ML model, even when trained on only 6 patients; the twin's value is what-if simulation and interpretability.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Once wearable history exists, static EHR adds little discrimination.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52514E"/>
                </a:solidFill>
                <a:latin typeface="Segoe UI"/>
              </a:defRPr>
            </a:pPr>
            <a:r>
              <a:t>Next steps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Prospective Indian cohort with CGM + smartwatch (steps, HR, HRV, sleep) to test the full fusion.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Connect the FHIR R4 export to an ABDM health-information gateway (export itself is built).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Validate the low-glucose model on Indian patients and add nocturnal-low alerts.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  <a:latin typeface="Segoe UI"/>
              </a:defRPr>
            </a:pPr>
            <a:r>
              <a:t>• Prospective pilot with clinicians, then the CDSCO SaMD pathway.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DE2FB"/>
                </a:solidFill>
                <a:latin typeface="Segoe UI"/>
              </a:defRPr>
            </a:pPr>
            <a:r>
              <a:t>&lt;Team Name&gt; · &lt;College / Incubator&gt; · github.com/&lt;your-org&gt;/&lt;repo&gt;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